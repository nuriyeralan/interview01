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85" d="100"/>
          <a:sy n="185" d="100"/>
        </p:scale>
        <p:origin x="538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s.windows.com/windowsexperience/2026/07/09/evolving-windows-vulnerability-management-to-meet-the-speed-of-ai-powered-discovery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D5B496B-76C6-D767-A44A-E1E7690093D4}"/>
              </a:ext>
            </a:extLst>
          </p:cNvPr>
          <p:cNvSpPr/>
          <p:nvPr/>
        </p:nvSpPr>
        <p:spPr>
          <a:xfrm>
            <a:off x="470030" y="2177949"/>
            <a:ext cx="7061028" cy="1425870"/>
          </a:xfrm>
          <a:prstGeom prst="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Compute Pipelines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DAD70A-681D-B53E-76E9-247DFEFD9FEB}"/>
              </a:ext>
            </a:extLst>
          </p:cNvPr>
          <p:cNvSpPr/>
          <p:nvPr/>
        </p:nvSpPr>
        <p:spPr>
          <a:xfrm>
            <a:off x="5964299" y="2679325"/>
            <a:ext cx="1474573" cy="6838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</a:rPr>
              <a:t>“Prove”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E837F8-9086-C05A-804D-50747F969BB8}"/>
              </a:ext>
            </a:extLst>
          </p:cNvPr>
          <p:cNvSpPr/>
          <p:nvPr/>
        </p:nvSpPr>
        <p:spPr>
          <a:xfrm>
            <a:off x="470030" y="3671739"/>
            <a:ext cx="7061027" cy="6720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AI &amp; Compute Capacity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63733F-0E1C-E995-CD5C-91FC9A3517F5}"/>
              </a:ext>
            </a:extLst>
          </p:cNvPr>
          <p:cNvSpPr/>
          <p:nvPr/>
        </p:nvSpPr>
        <p:spPr>
          <a:xfrm>
            <a:off x="4304221" y="2679324"/>
            <a:ext cx="1474573" cy="68387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</a:rPr>
              <a:t>“Scan”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5E643F-37DC-960A-0FB0-756E2382342C}"/>
              </a:ext>
            </a:extLst>
          </p:cNvPr>
          <p:cNvSpPr/>
          <p:nvPr/>
        </p:nvSpPr>
        <p:spPr>
          <a:xfrm>
            <a:off x="470030" y="1202121"/>
            <a:ext cx="7061027" cy="8754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Queuing &amp; Orchestration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5918F7-EBDD-ED30-0584-123B1650C783}"/>
              </a:ext>
            </a:extLst>
          </p:cNvPr>
          <p:cNvSpPr/>
          <p:nvPr/>
        </p:nvSpPr>
        <p:spPr>
          <a:xfrm>
            <a:off x="5041508" y="1433885"/>
            <a:ext cx="570717" cy="50036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UX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014A3B-B433-4409-47A5-AC1717B01F83}"/>
              </a:ext>
            </a:extLst>
          </p:cNvPr>
          <p:cNvSpPr/>
          <p:nvPr/>
        </p:nvSpPr>
        <p:spPr>
          <a:xfrm>
            <a:off x="5707998" y="1433885"/>
            <a:ext cx="737666" cy="5003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72FBCAF-A05D-D267-13C1-3FB3989AC08C}"/>
              </a:ext>
            </a:extLst>
          </p:cNvPr>
          <p:cNvSpPr/>
          <p:nvPr/>
        </p:nvSpPr>
        <p:spPr>
          <a:xfrm>
            <a:off x="6537848" y="1433885"/>
            <a:ext cx="901024" cy="5003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Queue</a:t>
            </a:r>
          </a:p>
        </p:txBody>
      </p:sp>
      <p:sp>
        <p:nvSpPr>
          <p:cNvPr id="22" name="Title 6">
            <a:extLst>
              <a:ext uri="{FF2B5EF4-FFF2-40B4-BE49-F238E27FC236}">
                <a16:creationId xmlns:a16="http://schemas.microsoft.com/office/drawing/2014/main" id="{F02C4D56-E83F-9760-69A1-115A6AD946FC}"/>
              </a:ext>
            </a:extLst>
          </p:cNvPr>
          <p:cNvSpPr>
            <a:spLocks noGrp="1"/>
          </p:cNvSpPr>
          <p:nvPr/>
        </p:nvSpPr>
        <p:spPr>
          <a:xfrm>
            <a:off x="-1" y="92292"/>
            <a:ext cx="12192001" cy="672029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67"/>
            <a:r>
              <a:rPr lang="en-US" sz="3600" b="1" dirty="0">
                <a:solidFill>
                  <a:schemeClr val="bg1"/>
                </a:solidFill>
              </a:rPr>
              <a:t>Service Architecture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57A790-BA17-9C73-14BD-7190F3D581E8}"/>
              </a:ext>
            </a:extLst>
          </p:cNvPr>
          <p:cNvSpPr txBox="1"/>
          <p:nvPr/>
        </p:nvSpPr>
        <p:spPr>
          <a:xfrm>
            <a:off x="4720281" y="4451133"/>
            <a:ext cx="737286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We continue to evolve our internal systems and practices so that vulnerability discovery is not treated as a separate activity, but as part of how we build, review and improve Windows before new features or updates are released. As a part of this we are updating our Secure Development Lifecycle (SDL) best practices to ensure our secure-by-design approach explicitly accounts for potential AI-enabled attack techniques and exploit paths. </a:t>
            </a:r>
            <a:br>
              <a:rPr lang="en-US" i="1" dirty="0"/>
            </a:br>
            <a:endParaRPr lang="en-US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63866D-A9E6-3643-2A49-8457F32C424E}"/>
              </a:ext>
            </a:extLst>
          </p:cNvPr>
          <p:cNvSpPr txBox="1"/>
          <p:nvPr/>
        </p:nvSpPr>
        <p:spPr>
          <a:xfrm>
            <a:off x="3565291" y="6166015"/>
            <a:ext cx="85863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- Pavan Davuluri, Executive Vice President, Windows + Devices</a:t>
            </a:r>
            <a:br>
              <a:rPr lang="en-US" dirty="0"/>
            </a:br>
            <a:r>
              <a:rPr lang="en-US" dirty="0">
                <a:hlinkClick r:id="rId2"/>
              </a:rPr>
              <a:t>Evolving Windows Vulnerability Management to Meet the Speed of AI-Powered Discovery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086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83820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3200" b="1">
                <a:solidFill>
                  <a:srgbClr val="1F2A36"/>
                </a:solidFill>
              </a:rPr>
              <a:t>Pipeline Orchestrator — Interview Challenge</a:t>
            </a:r>
          </a:p>
        </p:txBody>
      </p:sp>
      <p:sp>
        <p:nvSpPr>
          <p:cNvPr id="3" name="Provided"/>
          <p:cNvSpPr/>
          <p:nvPr/>
        </p:nvSpPr>
        <p:spPr>
          <a:xfrm>
            <a:off x="457200" y="1524000"/>
            <a:ext cx="4343400" cy="2895600"/>
          </a:xfrm>
          <a:prstGeom prst="roundRect">
            <a:avLst/>
          </a:prstGeom>
          <a:solidFill>
            <a:srgbClr val="EEF1F5"/>
          </a:solidFill>
          <a:ln w="19050">
            <a:solidFill>
              <a:srgbClr val="8C9AA6"/>
            </a:solidFill>
          </a:ln>
        </p:spPr>
        <p:txBody>
          <a:bodyPr lIns="137160" tIns="91440" rIns="137160" anchor="t"/>
          <a:lstStyle/>
          <a:p>
            <a:pPr algn="ctr"/>
            <a:r>
              <a:rPr lang="en-US" sz="2000" b="1" dirty="0">
                <a:solidFill>
                  <a:srgbClr val="1F2A36"/>
                </a:solidFill>
              </a:rPr>
              <a:t>Mock ADO + Simulation Engine</a:t>
            </a:r>
          </a:p>
          <a:p>
            <a:pPr algn="ctr"/>
            <a:r>
              <a:rPr lang="en-US" sz="1200" i="1" dirty="0">
                <a:solidFill>
                  <a:srgbClr val="5A6672"/>
                </a:solidFill>
              </a:rPr>
              <a:t>provided — you don't build this</a:t>
            </a:r>
          </a:p>
          <a:p>
            <a:endParaRPr lang="en-US" sz="600" dirty="0"/>
          </a:p>
          <a:p>
            <a:r>
              <a:rPr lang="en-US" sz="1400" dirty="0"/>
              <a:t>•  Emits a stream of job requests</a:t>
            </a:r>
          </a:p>
          <a:p>
            <a:r>
              <a:rPr lang="en-US" sz="1400" dirty="0"/>
              <a:t>•  Hosts the ADO Pipelines REST API</a:t>
            </a:r>
          </a:p>
          <a:p>
            <a:r>
              <a:rPr lang="en-US" sz="1400" dirty="0"/>
              <a:t>•  Runs jobs on agent pools, then grades you</a:t>
            </a:r>
          </a:p>
        </p:txBody>
      </p:sp>
      <p:sp>
        <p:nvSpPr>
          <p:cNvPr id="4" name="Orchestrator"/>
          <p:cNvSpPr/>
          <p:nvPr/>
        </p:nvSpPr>
        <p:spPr>
          <a:xfrm>
            <a:off x="7391400" y="1524000"/>
            <a:ext cx="4343400" cy="2895600"/>
          </a:xfrm>
          <a:prstGeom prst="roundRect">
            <a:avLst/>
          </a:prstGeom>
          <a:solidFill>
            <a:srgbClr val="DDEBF7"/>
          </a:solidFill>
          <a:ln w="38100">
            <a:solidFill>
              <a:srgbClr val="2E75B6"/>
            </a:solidFill>
          </a:ln>
        </p:spPr>
        <p:txBody>
          <a:bodyPr lIns="137160" tIns="91440" rIns="137160" anchor="t"/>
          <a:lstStyle/>
          <a:p>
            <a:pPr algn="ctr"/>
            <a:r>
              <a:rPr lang="en-US" sz="2000" b="1">
                <a:solidFill>
                  <a:srgbClr val="1F4E79"/>
                </a:solidFill>
              </a:rPr>
              <a:t>YOUR ORCHESTRATOR</a:t>
            </a:r>
          </a:p>
          <a:p>
            <a:pPr algn="ctr"/>
            <a:r>
              <a:rPr lang="en-US" sz="1200" b="1" i="1">
                <a:solidFill>
                  <a:srgbClr val="2E75B6"/>
                </a:solidFill>
              </a:rPr>
              <a:t>this is the piece you build</a:t>
            </a:r>
          </a:p>
          <a:p>
            <a:endParaRPr lang="en-US" sz="600"/>
          </a:p>
          <a:p>
            <a:r>
              <a:rPr lang="en-US" sz="1400"/>
              <a:t>•  Receive pushed requests over HTTP</a:t>
            </a:r>
          </a:p>
          <a:p>
            <a:r>
              <a:rPr lang="en-US" sz="1400"/>
              <a:t>•  Schedule them onto ADO agent pools</a:t>
            </a:r>
          </a:p>
          <a:p>
            <a:r>
              <a:rPr lang="en-US" sz="1400"/>
              <a:t>•  Manage priority, capacity, and retries</a:t>
            </a:r>
          </a:p>
        </p:txBody>
      </p:sp>
      <p:sp>
        <p:nvSpPr>
          <p:cNvPr id="5" name="ArrowPush"/>
          <p:cNvSpPr/>
          <p:nvPr/>
        </p:nvSpPr>
        <p:spPr>
          <a:xfrm>
            <a:off x="4953000" y="1798320"/>
            <a:ext cx="2286000" cy="640080"/>
          </a:xfrm>
          <a:prstGeom prst="rightArrow">
            <a:avLst/>
          </a:prstGeom>
          <a:solidFill>
            <a:srgbClr val="548235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① new requests → POST /requests</a:t>
            </a:r>
          </a:p>
        </p:txBody>
      </p:sp>
      <p:sp>
        <p:nvSpPr>
          <p:cNvPr id="6" name="ArrowRest"/>
          <p:cNvSpPr/>
          <p:nvPr/>
        </p:nvSpPr>
        <p:spPr>
          <a:xfrm>
            <a:off x="4953000" y="3105600"/>
            <a:ext cx="2286000" cy="640080"/>
          </a:xfrm>
          <a:prstGeom prst="leftArrow">
            <a:avLst/>
          </a:prstGeom>
          <a:solidFill>
            <a:srgbClr val="C55A11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② ADO REST: queue/cancel, read pools</a:t>
            </a:r>
          </a:p>
        </p:txBody>
      </p:sp>
      <p:sp>
        <p:nvSpPr>
          <p:cNvPr id="7" name="Caption"/>
          <p:cNvSpPr txBox="1"/>
          <p:nvPr/>
        </p:nvSpPr>
        <p:spPr>
          <a:xfrm>
            <a:off x="457200" y="4724400"/>
            <a:ext cx="11277600" cy="1400400"/>
          </a:xfrm>
          <a:prstGeom prst="rect">
            <a:avLst/>
          </a:prstGeom>
        </p:spPr>
        <p:txBody>
          <a:bodyPr anchor="t"/>
          <a:lstStyle/>
          <a:p>
            <a:pPr algn="ctr"/>
            <a:r>
              <a:rPr lang="en-US" sz="1400" dirty="0"/>
              <a:t>You build only the orchestrator (right). Everything else is provided. You interact purely over HTTP:</a:t>
            </a:r>
          </a:p>
          <a:p>
            <a:pPr algn="ctr"/>
            <a:r>
              <a:rPr lang="en-US" sz="1400" dirty="0"/>
              <a:t>receive fire-and-forget pushes and call the mock ADO REST API to schedule work.</a:t>
            </a:r>
          </a:p>
          <a:p>
            <a:pPr algn="ctr"/>
            <a:r>
              <a:rPr lang="en-US" sz="1400" b="1" dirty="0">
                <a:solidFill>
                  <a:srgbClr val="1F4E79"/>
                </a:solidFill>
              </a:rPr>
              <a:t>Reference docs: CANDIDATE.md + API.md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248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4" baseType="lpstr">
      <vt:lpstr>Arial</vt:lpstr>
      <vt:lpstr>Office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Nuri Yeralan</cp:lastModifiedBy>
  <cp:revision>5</cp:revision>
  <dcterms:modified xsi:type="dcterms:W3CDTF">2026-08-05T23:16:24Z</dcterms:modified>
</cp:coreProperties>
</file>